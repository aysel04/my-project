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9144000"/>
  <p:embeddedFontLst>
    <p:embeddedFont>
      <p:font typeface="Arimo"/>
      <p:regular r:id="rId25"/>
      <p:bold r:id="rId26"/>
      <p:italic r:id="rId27"/>
      <p:boldItalic r:id="rId28"/>
    </p:embeddedFont>
    <p:embeddedFont>
      <p:font typeface="Roboto Mon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iw/6fkNi8ISBEXeKExnvzWAKnK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Arimo-bold.fntdata"/><Relationship Id="rId25" Type="http://schemas.openxmlformats.org/officeDocument/2006/relationships/font" Target="fonts/Arimo-regular.fntdata"/><Relationship Id="rId28" Type="http://schemas.openxmlformats.org/officeDocument/2006/relationships/font" Target="fonts/Arimo-boldItalic.fntdata"/><Relationship Id="rId27" Type="http://schemas.openxmlformats.org/officeDocument/2006/relationships/font" Target="fonts/Arim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Mono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Mono-italic.fntdata"/><Relationship Id="rId30" Type="http://schemas.openxmlformats.org/officeDocument/2006/relationships/font" Target="fonts/RobotoMono-bold.fntdata"/><Relationship Id="rId11" Type="http://schemas.openxmlformats.org/officeDocument/2006/relationships/slide" Target="slides/slide7.xml"/><Relationship Id="rId33" Type="http://customschemas.google.com/relationships/presentationmetadata" Target="metadata"/><Relationship Id="rId10" Type="http://schemas.openxmlformats.org/officeDocument/2006/relationships/slide" Target="slides/slide6.xml"/><Relationship Id="rId32" Type="http://schemas.openxmlformats.org/officeDocument/2006/relationships/font" Target="fonts/RobotoMono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1bf9d34e5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91bf9d34e5_0_1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1bf9d34e5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91bf9d34e5_0_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91bf9d34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91bf9d34e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91bf9d34e5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91bf9d34e5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91bf9d34e5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91bf9d34e5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91bf9d34e5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91bf9d34e5_0_1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91bf9d34e5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91bf9d34e5_0_1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5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www.ibm.com/think/topics/hierarchical-clustering?utm_source=chatgpt.com" TargetMode="External"/><Relationship Id="rId4" Type="http://schemas.openxmlformats.org/officeDocument/2006/relationships/hyperlink" Target="https://www.geeksforgeeks.org/machine-learning/hierarchical-clustering/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3712256" y="-328426"/>
            <a:ext cx="9909613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/>
              <a:t>Azərbaycan Texniki Universiteti</a:t>
            </a:r>
            <a:endParaRPr sz="4800"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3712256" y="2601119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Fənn : Süni intellektin əsasları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Müəllim : Abbaslı Cavid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Qrup : M665A4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Tələbə : Qarayeva Aysel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Mövzu : Sosial şəbəkə istifadəçilərinin davranışlarını İerarxik klasterləşdirmə təhlili.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 b="30300" l="0" r="0" t="0"/>
          <a:stretch/>
        </p:blipFill>
        <p:spPr>
          <a:xfrm>
            <a:off x="1387662" y="1310622"/>
            <a:ext cx="2587318" cy="3676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idx="1" type="body"/>
          </p:nvPr>
        </p:nvSpPr>
        <p:spPr>
          <a:xfrm>
            <a:off x="265112" y="1845310"/>
            <a:ext cx="552239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Sosial şəbəkələrdə istifadəçi sayı sürətlə artır və hər gün böyük həcmdə davranış məlumatı yaranır.</a:t>
            </a:r>
            <a:br>
              <a:rPr lang="en-US" sz="2400"/>
            </a:br>
            <a:r>
              <a:rPr lang="en-US" sz="2400"/>
              <a:t>Bu məlumatlar istifadəçilərin platformalarda necə davrandığını anlamaq üçün mühüm resursdur.</a:t>
            </a:r>
            <a:br>
              <a:rPr lang="en-US" sz="2400"/>
            </a:br>
            <a:r>
              <a:rPr lang="en-US" sz="2400"/>
              <a:t>Davranışların qruplaşdırılması sosial şəbəkə idarəçilərinə və şirkətlərə istifadəçiləri daha düzgün anlamağa kömək edir.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12 Obscure Social Media Platforms You Didn't Know Exist - All Pro Dad"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4494" y="1845310"/>
            <a:ext cx="5522394" cy="368046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"/>
          <p:cNvSpPr/>
          <p:nvPr/>
        </p:nvSpPr>
        <p:spPr>
          <a:xfrm>
            <a:off x="0" y="295835"/>
            <a:ext cx="12192000" cy="860612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 txBox="1"/>
          <p:nvPr>
            <p:ph type="title"/>
          </p:nvPr>
        </p:nvSpPr>
        <p:spPr>
          <a:xfrm>
            <a:off x="3907891" y="6335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Mövzunun aktuallığı</a:t>
            </a:r>
            <a:endParaRPr b="1" sz="32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>
            <p:ph idx="1" type="body"/>
          </p:nvPr>
        </p:nvSpPr>
        <p:spPr>
          <a:xfrm>
            <a:off x="5888672" y="1838960"/>
            <a:ext cx="552239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• Oxşar davranış göstərən istifadəçilərin müəyyənləşdirilməsi xidmətlərin fərdiləşdirilməsini asanlaşdırır.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• Davranış modellərinin təhlili marketinq, təhlükəsizlik və məzmun idarəçiliyi kimi sahələrdə daha səmərəli qərarverməyə imkan yaradır.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• İerarxik klasterləşdirmə istifadəçi qruplarını daha dəqiq və vizual şəkildə təqdim etməyə şərait yaradır.</a:t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0" y="295835"/>
            <a:ext cx="12192000" cy="860612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 txBox="1"/>
          <p:nvPr>
            <p:ph type="title"/>
          </p:nvPr>
        </p:nvSpPr>
        <p:spPr>
          <a:xfrm>
            <a:off x="3907891" y="6335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Mövzunun aktuallığı</a:t>
            </a:r>
            <a:endParaRPr b="1" sz="32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323" y="1845310"/>
            <a:ext cx="5174092" cy="366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1bf9d34e5_0_130"/>
          <p:cNvSpPr txBox="1"/>
          <p:nvPr>
            <p:ph idx="1" type="body"/>
          </p:nvPr>
        </p:nvSpPr>
        <p:spPr>
          <a:xfrm>
            <a:off x="451576" y="1549024"/>
            <a:ext cx="6467400" cy="4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İstifadəçilərin klasterləşdirilməsi real həyatda bir çox sahədə istifadə olunur. Çünki bu üsul insanların davranışını daha yaxşı anlamağa kömək edir.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Rəqəmsal marketinqdə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klasterləşmə müştəriləri aktivliyinə görə qruplaşdırmağa imkan verir. Məsələn, çox aktiv istifadəçilərə yeni məhsullar göstərilir, az aktiv olanlara isə endirimlər və təşviq mesajları göndərilir.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Sosial şəbəkələrdə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bu üsul istifadəçilərin maraqlarını və davranışlarını anlamaq üçün vacibdir. Aktiv istifadəçilərə daha uyğun məzmun təklif olunur, passiv istifadəçilər isə bildirişlərlə platformaya qaytarılmağa çalışılır.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Biznes sahəsində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klasterləşmə müştəriləri daha yaxşı tanımağa kömək edir. Nəticədə şirkətlər hansı müştərilərin sadiq, hansılarının isə az aktiv olduğunu görə bilirlər.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Təhsil sahəsində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tələbələr dərslərdəki aktivliyinə görə qruplaşdırıla bilər. Bu da passiv tələbələrə vaxtında əlavə dəstək göstərməyə imkan yaradır.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Kibertəhlükəsizlikdə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istifadəçi davranışları müqayisə edilərək qeyri-adi və şübhəli hesablar aşkar edilə bilər.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Sağlamlıq tətbiqlərində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isə insanların gündəlik aktivliyi analiz olunur və hər istifadəçiyə uyğun tövsiyələr verilir.</a:t>
            </a:r>
            <a:endParaRPr sz="3000"/>
          </a:p>
        </p:txBody>
      </p:sp>
      <p:sp>
        <p:nvSpPr>
          <p:cNvPr id="108" name="Google Shape;108;g391bf9d34e5_0_130"/>
          <p:cNvSpPr/>
          <p:nvPr/>
        </p:nvSpPr>
        <p:spPr>
          <a:xfrm>
            <a:off x="0" y="295835"/>
            <a:ext cx="12192000" cy="860700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91bf9d34e5_0_130"/>
          <p:cNvSpPr txBox="1"/>
          <p:nvPr>
            <p:ph type="title"/>
          </p:nvPr>
        </p:nvSpPr>
        <p:spPr>
          <a:xfrm>
            <a:off x="3907891" y="6335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Mövzunun aktuallığı</a:t>
            </a:r>
            <a:endParaRPr b="1" sz="32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g391bf9d34e5_0_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0875" y="1627550"/>
            <a:ext cx="4272675" cy="427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/>
          <p:nvPr>
            <p:ph idx="1" type="body"/>
          </p:nvPr>
        </p:nvSpPr>
        <p:spPr>
          <a:xfrm>
            <a:off x="225304" y="1781418"/>
            <a:ext cx="5870696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Klasterləşdirmə — oxşar xüsusiyyətlərə malik obyektləri qruplaşdıran statistik analiz üsuludur. Məqsəd: böyük və qarışıq məlumatdan mənalı qruplar yaratmaq. Klasterləşdirmə növləri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• K-means klasterləşdirmə</a:t>
            </a: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r>
              <a:rPr lang="en-US">
                <a:latin typeface="Calibri"/>
                <a:ea typeface="Calibri"/>
                <a:cs typeface="Calibri"/>
                <a:sym typeface="Calibri"/>
              </a:rPr>
              <a:t>• DBSCAN sıxlıq əsaslı klasterləşdirmə</a:t>
            </a: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r>
              <a:rPr lang="en-US">
                <a:latin typeface="Calibri"/>
                <a:ea typeface="Calibri"/>
                <a:cs typeface="Calibri"/>
                <a:sym typeface="Calibri"/>
              </a:rPr>
              <a:t>• İerarxik klasterləşdirmə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0" y="295835"/>
            <a:ext cx="12192000" cy="860612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 txBox="1"/>
          <p:nvPr>
            <p:ph type="title"/>
          </p:nvPr>
        </p:nvSpPr>
        <p:spPr>
          <a:xfrm>
            <a:off x="3907891" y="6335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Klasterləşdirmə</a:t>
            </a:r>
            <a:endParaRPr b="1" sz="80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8724" y="1781418"/>
            <a:ext cx="5343276" cy="35906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>
            <p:ph idx="1" type="body"/>
          </p:nvPr>
        </p:nvSpPr>
        <p:spPr>
          <a:xfrm>
            <a:off x="5873380" y="1743449"/>
            <a:ext cx="5870696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İerarxik klasterləşdirmə nəzarətsiz maşın öyrənməsi alqoritmidir və məlumatları bir-biri içində yerləşən klasterlərdən ibarət ağac şəklində qruplaşdırır. Əsas növlərinə aqqlomorativ (aşağıdan-yuxarıya) və divisiv (yuxarıdan-aşağıya) metodlar daxildir. İerarxik klaster analizi datasetlərdəki nümunə və əlaqələri tapmağa kömək edir. Nəticələr klasterlər arasındakı məsafə münasibətlərini göstərən dendrogram diaqramı vasitəsilə təqdim olunur.</a:t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0" y="295835"/>
            <a:ext cx="12192000" cy="860612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 txBox="1"/>
          <p:nvPr>
            <p:ph type="title"/>
          </p:nvPr>
        </p:nvSpPr>
        <p:spPr>
          <a:xfrm>
            <a:off x="3907891" y="6335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İerarxik klasterləşdirmə</a:t>
            </a:r>
            <a:endParaRPr b="1" sz="96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lustering(K-Mean and Hierarchical) with Practical Implementation | by Amir  Ali | Aorb Tech | Medium" id="126" name="Google Shape;126;p5"/>
          <p:cNvPicPr preferRelativeResize="0"/>
          <p:nvPr/>
        </p:nvPicPr>
        <p:blipFill rotWithShape="1">
          <a:blip r:embed="rId3">
            <a:alphaModFix/>
          </a:blip>
          <a:srcRect b="7164" l="53201" r="3752" t="40992"/>
          <a:stretch/>
        </p:blipFill>
        <p:spPr>
          <a:xfrm>
            <a:off x="833719" y="2138082"/>
            <a:ext cx="3993775" cy="3603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/>
          <p:nvPr>
            <p:ph idx="1" type="body"/>
          </p:nvPr>
        </p:nvSpPr>
        <p:spPr>
          <a:xfrm>
            <a:off x="589430" y="1621398"/>
            <a:ext cx="1101314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İerarxik klasterləşdirmənin iki növü var:</a:t>
            </a:r>
            <a:endParaRPr sz="2000"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Aqqlomorativ (aşağıdan-yuxarıya) yanaşma:</a:t>
            </a:r>
            <a:r>
              <a:rPr lang="en-US" sz="2000"/>
              <a:t> Kiçik klasterlər ardıcıl şəkildə birləşdirilərək sonda tək bir klaster əmələ gətirilir.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Divisiv (yuxarıdan-aşağıya) yanaşma:</a:t>
            </a:r>
            <a:r>
              <a:rPr lang="en-US" sz="2000"/>
              <a:t> Bütün məlumatlar əvvəlcə tək bir klasterdə olur, daha sonra klasterlər ardıcıllıqla bölünərək hər biri tək nümunəyə qədər parçalanır.</a:t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0" y="295835"/>
            <a:ext cx="12192000" cy="860612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 txBox="1"/>
          <p:nvPr>
            <p:ph type="title"/>
          </p:nvPr>
        </p:nvSpPr>
        <p:spPr>
          <a:xfrm>
            <a:off x="3907891" y="6335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Klasterləşdirmə</a:t>
            </a:r>
            <a:endParaRPr b="1" sz="80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Hierarchical Clustering in Machine Learning - GeeksforGeeks" id="134" name="Google Shape;134;p6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gglomerative Hierarchical Clustering - Datanovia" id="135" name="Google Shape;13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1503" y="3668954"/>
            <a:ext cx="5924193" cy="2893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 txBox="1"/>
          <p:nvPr>
            <p:ph idx="1" type="body"/>
          </p:nvPr>
        </p:nvSpPr>
        <p:spPr>
          <a:xfrm>
            <a:off x="589430" y="1621398"/>
            <a:ext cx="1101314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Aqqlomorativ klasterləşmədə</a:t>
            </a:r>
            <a:r>
              <a:rPr lang="en-US" sz="1400"/>
              <a:t>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/>
              <a:t>Hər müşahidə (data point) ayrı klaster kimi başlanır.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/>
              <a:t>Ən oxşar iki klaster birləşdirilir.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400"/>
              <a:t>Bu proses tək klaster qalana qədər davam edir.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141" name="Google Shape;141;p7"/>
          <p:cNvSpPr/>
          <p:nvPr/>
        </p:nvSpPr>
        <p:spPr>
          <a:xfrm>
            <a:off x="0" y="295835"/>
            <a:ext cx="12192000" cy="860612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 txBox="1"/>
          <p:nvPr>
            <p:ph type="title"/>
          </p:nvPr>
        </p:nvSpPr>
        <p:spPr>
          <a:xfrm>
            <a:off x="3907891" y="6335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Klasterləşdirmə</a:t>
            </a:r>
            <a:endParaRPr b="1" sz="80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Hierarchical Clustering in Machine Learning - GeeksforGeeks" id="143" name="Google Shape;143;p7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1273" y="3429000"/>
            <a:ext cx="6994253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1bf9d34e5_0_86"/>
          <p:cNvSpPr/>
          <p:nvPr/>
        </p:nvSpPr>
        <p:spPr>
          <a:xfrm>
            <a:off x="0" y="295835"/>
            <a:ext cx="12192000" cy="860700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91bf9d34e5_0_86"/>
          <p:cNvSpPr txBox="1"/>
          <p:nvPr>
            <p:ph type="title"/>
          </p:nvPr>
        </p:nvSpPr>
        <p:spPr>
          <a:xfrm>
            <a:off x="4069816" y="6335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Layihənin icrası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Hierarchical Clustering in Machine Learning - GeeksforGeeks" id="151" name="Google Shape;151;g391bf9d34e5_0_86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g391bf9d34e5_0_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5995" y="1206563"/>
            <a:ext cx="8150214" cy="5651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"/>
          <p:cNvSpPr/>
          <p:nvPr/>
        </p:nvSpPr>
        <p:spPr>
          <a:xfrm>
            <a:off x="0" y="295835"/>
            <a:ext cx="12192000" cy="860612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 txBox="1"/>
          <p:nvPr>
            <p:ph type="title"/>
          </p:nvPr>
        </p:nvSpPr>
        <p:spPr>
          <a:xfrm>
            <a:off x="4069816" y="6335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Layihənin icrası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9"/>
          <p:cNvPicPr preferRelativeResize="0"/>
          <p:nvPr/>
        </p:nvPicPr>
        <p:blipFill rotWithShape="1">
          <a:blip r:embed="rId3">
            <a:alphaModFix/>
          </a:blip>
          <a:srcRect b="0" l="0" r="40458" t="0"/>
          <a:stretch/>
        </p:blipFill>
        <p:spPr>
          <a:xfrm>
            <a:off x="2196738" y="1884125"/>
            <a:ext cx="4736650" cy="4770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9"/>
          <p:cNvSpPr txBox="1"/>
          <p:nvPr/>
        </p:nvSpPr>
        <p:spPr>
          <a:xfrm>
            <a:off x="3047668" y="1884125"/>
            <a:ext cx="6945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xüsusiyyətə (</a:t>
            </a:r>
            <a:r>
              <a:rPr b="1" lang="en-US" sz="2300">
                <a:solidFill>
                  <a:schemeClr val="dk1"/>
                </a:solidFill>
                <a:highlight>
                  <a:schemeClr val="lt1"/>
                </a:highlight>
              </a:rPr>
              <a:t>feature</a:t>
            </a:r>
            <a:r>
              <a:rPr b="1"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görə analiz aparılacaq.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-178169" y="4907325"/>
            <a:ext cx="694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Like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 txBox="1"/>
          <p:nvPr/>
        </p:nvSpPr>
        <p:spPr>
          <a:xfrm>
            <a:off x="1308150" y="4907325"/>
            <a:ext cx="694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 txBox="1"/>
          <p:nvPr/>
        </p:nvSpPr>
        <p:spPr>
          <a:xfrm>
            <a:off x="2562475" y="4900232"/>
            <a:ext cx="694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4055338" y="4907662"/>
            <a:ext cx="694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Repost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9"/>
          <p:cNvPicPr preferRelativeResize="0"/>
          <p:nvPr/>
        </p:nvPicPr>
        <p:blipFill rotWithShape="1">
          <a:blip r:embed="rId4">
            <a:alphaModFix/>
          </a:blip>
          <a:srcRect b="26929" l="53133" r="0" t="49083"/>
          <a:stretch/>
        </p:blipFill>
        <p:spPr>
          <a:xfrm>
            <a:off x="7005888" y="3693675"/>
            <a:ext cx="2590080" cy="1325573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9"/>
          <p:cNvSpPr txBox="1"/>
          <p:nvPr/>
        </p:nvSpPr>
        <p:spPr>
          <a:xfrm>
            <a:off x="5406488" y="4900237"/>
            <a:ext cx="694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Online time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9"/>
          <p:cNvPicPr preferRelativeResize="0"/>
          <p:nvPr/>
        </p:nvPicPr>
        <p:blipFill rotWithShape="1">
          <a:blip r:embed="rId5">
            <a:alphaModFix/>
          </a:blip>
          <a:srcRect b="0" l="48453" r="0" t="0"/>
          <a:stretch/>
        </p:blipFill>
        <p:spPr>
          <a:xfrm>
            <a:off x="8315224" y="3642550"/>
            <a:ext cx="1185525" cy="125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"/>
          <p:cNvSpPr/>
          <p:nvPr/>
        </p:nvSpPr>
        <p:spPr>
          <a:xfrm>
            <a:off x="0" y="295835"/>
            <a:ext cx="12192000" cy="860612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 txBox="1"/>
          <p:nvPr>
            <p:ph type="title"/>
          </p:nvPr>
        </p:nvSpPr>
        <p:spPr>
          <a:xfrm>
            <a:off x="4069816" y="6335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Layihənin icrası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Hierarchical Clustering in Machine Learning - GeeksforGeeks" id="174" name="Google Shape;174;p8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6775" y="5465697"/>
            <a:ext cx="647950" cy="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1825" y="5465697"/>
            <a:ext cx="647950" cy="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3150" y="5465697"/>
            <a:ext cx="647950" cy="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0025" y="5465697"/>
            <a:ext cx="647950" cy="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2800" y="5469072"/>
            <a:ext cx="647950" cy="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3125" y="5469072"/>
            <a:ext cx="647950" cy="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66400" y="5465697"/>
            <a:ext cx="647950" cy="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6781" y="5454573"/>
            <a:ext cx="647950" cy="647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3" name="Google Shape;183;p8"/>
          <p:cNvCxnSpPr/>
          <p:nvPr/>
        </p:nvCxnSpPr>
        <p:spPr>
          <a:xfrm>
            <a:off x="1612275" y="5268925"/>
            <a:ext cx="9554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" name="Google Shape;184;p8"/>
          <p:cNvSpPr/>
          <p:nvPr/>
        </p:nvSpPr>
        <p:spPr>
          <a:xfrm>
            <a:off x="2250225" y="5210925"/>
            <a:ext cx="101400" cy="116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2765099" y="5232835"/>
            <a:ext cx="101400" cy="116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3816433" y="5211247"/>
            <a:ext cx="101400" cy="116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4563290" y="5204159"/>
            <a:ext cx="101400" cy="116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6296074" y="5197070"/>
            <a:ext cx="101400" cy="116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7376407" y="5204481"/>
            <a:ext cx="101400" cy="116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9239682" y="5197393"/>
            <a:ext cx="101400" cy="116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9667562" y="5204803"/>
            <a:ext cx="101400" cy="116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" name="Google Shape;192;p8"/>
          <p:cNvCxnSpPr/>
          <p:nvPr/>
        </p:nvCxnSpPr>
        <p:spPr>
          <a:xfrm flipH="1" rot="10800000">
            <a:off x="2300925" y="4602021"/>
            <a:ext cx="7200" cy="66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8"/>
          <p:cNvCxnSpPr/>
          <p:nvPr/>
        </p:nvCxnSpPr>
        <p:spPr>
          <a:xfrm flipH="1" rot="10800000">
            <a:off x="2815799" y="4609431"/>
            <a:ext cx="7200" cy="66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8"/>
          <p:cNvCxnSpPr/>
          <p:nvPr/>
        </p:nvCxnSpPr>
        <p:spPr>
          <a:xfrm flipH="1" rot="10800000">
            <a:off x="3881632" y="4602343"/>
            <a:ext cx="7200" cy="66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8"/>
          <p:cNvCxnSpPr/>
          <p:nvPr/>
        </p:nvCxnSpPr>
        <p:spPr>
          <a:xfrm flipH="1" rot="10800000">
            <a:off x="4613990" y="4595255"/>
            <a:ext cx="7200" cy="66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8"/>
          <p:cNvCxnSpPr/>
          <p:nvPr/>
        </p:nvCxnSpPr>
        <p:spPr>
          <a:xfrm flipH="1" rot="10800000">
            <a:off x="6346774" y="4602665"/>
            <a:ext cx="7200" cy="66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8"/>
          <p:cNvCxnSpPr/>
          <p:nvPr/>
        </p:nvCxnSpPr>
        <p:spPr>
          <a:xfrm flipH="1" rot="10800000">
            <a:off x="7427107" y="4595577"/>
            <a:ext cx="7200" cy="66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" name="Google Shape;198;p8"/>
          <p:cNvCxnSpPr/>
          <p:nvPr/>
        </p:nvCxnSpPr>
        <p:spPr>
          <a:xfrm flipH="1" rot="10800000">
            <a:off x="9725350" y="4588488"/>
            <a:ext cx="7200" cy="66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" name="Google Shape;199;p8"/>
          <p:cNvCxnSpPr/>
          <p:nvPr/>
        </p:nvCxnSpPr>
        <p:spPr>
          <a:xfrm flipH="1" rot="10800000">
            <a:off x="9283294" y="4595899"/>
            <a:ext cx="7200" cy="66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" name="Google Shape;200;p8"/>
          <p:cNvCxnSpPr/>
          <p:nvPr/>
        </p:nvCxnSpPr>
        <p:spPr>
          <a:xfrm>
            <a:off x="2308225" y="4645450"/>
            <a:ext cx="52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" name="Google Shape;201;p8"/>
          <p:cNvCxnSpPr/>
          <p:nvPr/>
        </p:nvCxnSpPr>
        <p:spPr>
          <a:xfrm>
            <a:off x="3881521" y="4652861"/>
            <a:ext cx="7464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8"/>
          <p:cNvCxnSpPr/>
          <p:nvPr/>
        </p:nvCxnSpPr>
        <p:spPr>
          <a:xfrm flipH="1" rot="10800000">
            <a:off x="6368251" y="4630973"/>
            <a:ext cx="10581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8"/>
          <p:cNvCxnSpPr/>
          <p:nvPr/>
        </p:nvCxnSpPr>
        <p:spPr>
          <a:xfrm flipH="1" rot="10800000">
            <a:off x="9296725" y="4623750"/>
            <a:ext cx="4569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8"/>
          <p:cNvCxnSpPr/>
          <p:nvPr/>
        </p:nvCxnSpPr>
        <p:spPr>
          <a:xfrm flipH="1" rot="10800000">
            <a:off x="2540225" y="3746625"/>
            <a:ext cx="1609500" cy="1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8"/>
          <p:cNvCxnSpPr/>
          <p:nvPr/>
        </p:nvCxnSpPr>
        <p:spPr>
          <a:xfrm flipH="1" rot="10800000">
            <a:off x="2525725" y="3746450"/>
            <a:ext cx="14400" cy="91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8"/>
          <p:cNvCxnSpPr/>
          <p:nvPr/>
        </p:nvCxnSpPr>
        <p:spPr>
          <a:xfrm flipH="1" rot="10800000">
            <a:off x="4127345" y="3746550"/>
            <a:ext cx="14400" cy="91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8"/>
          <p:cNvCxnSpPr/>
          <p:nvPr/>
        </p:nvCxnSpPr>
        <p:spPr>
          <a:xfrm flipH="1" rot="10800000">
            <a:off x="6883332" y="3746450"/>
            <a:ext cx="14400" cy="91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" name="Google Shape;208;p8"/>
          <p:cNvCxnSpPr/>
          <p:nvPr/>
        </p:nvCxnSpPr>
        <p:spPr>
          <a:xfrm flipH="1" rot="10800000">
            <a:off x="9517982" y="3739377"/>
            <a:ext cx="14400" cy="91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8"/>
          <p:cNvCxnSpPr/>
          <p:nvPr/>
        </p:nvCxnSpPr>
        <p:spPr>
          <a:xfrm rot="10800000">
            <a:off x="6904400" y="3761025"/>
            <a:ext cx="263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" name="Google Shape;210;p8"/>
          <p:cNvSpPr txBox="1"/>
          <p:nvPr/>
        </p:nvSpPr>
        <p:spPr>
          <a:xfrm>
            <a:off x="3047668" y="1884125"/>
            <a:ext cx="6945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İstifadəçilərin verilənləri normallaşdırılır və yaxın yerləşənlər birləşdirilir.Beləliklə klasterlər yaranır.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91bf9d34e5_0_0"/>
          <p:cNvSpPr/>
          <p:nvPr/>
        </p:nvSpPr>
        <p:spPr>
          <a:xfrm>
            <a:off x="0" y="295835"/>
            <a:ext cx="12192000" cy="860700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91bf9d34e5_0_0"/>
          <p:cNvSpPr txBox="1"/>
          <p:nvPr>
            <p:ph type="title"/>
          </p:nvPr>
        </p:nvSpPr>
        <p:spPr>
          <a:xfrm>
            <a:off x="4069816" y="6335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Layihənin icrası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Hierarchical Clustering in Machine Learning - GeeksforGeeks" id="217" name="Google Shape;217;g391bf9d34e5_0_0"/>
          <p:cNvSpPr/>
          <p:nvPr/>
        </p:nvSpPr>
        <p:spPr>
          <a:xfrm>
            <a:off x="5960691" y="4616366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ser icon set. Different user collection, User Interface in flat style ..." id="218" name="Google Shape;218;g391bf9d34e5_0_0"/>
          <p:cNvPicPr preferRelativeResize="0"/>
          <p:nvPr/>
        </p:nvPicPr>
        <p:blipFill rotWithShape="1">
          <a:blip r:embed="rId3">
            <a:alphaModFix/>
          </a:blip>
          <a:srcRect b="50000" l="34750" r="35877" t="5357"/>
          <a:stretch/>
        </p:blipFill>
        <p:spPr>
          <a:xfrm>
            <a:off x="1806426" y="3126253"/>
            <a:ext cx="1372611" cy="14901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ser icon set. Different user collection, User Interface in flat style ..." id="219" name="Google Shape;219;g391bf9d34e5_0_0"/>
          <p:cNvPicPr preferRelativeResize="0"/>
          <p:nvPr/>
        </p:nvPicPr>
        <p:blipFill rotWithShape="1">
          <a:blip r:embed="rId3">
            <a:alphaModFix/>
          </a:blip>
          <a:srcRect b="50000" l="34750" r="35877" t="5357"/>
          <a:stretch/>
        </p:blipFill>
        <p:spPr>
          <a:xfrm>
            <a:off x="8954775" y="3126253"/>
            <a:ext cx="1372611" cy="14901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ser icon set. Different user collection, User Interface in flat style ..." id="220" name="Google Shape;220;g391bf9d34e5_0_0"/>
          <p:cNvPicPr preferRelativeResize="0"/>
          <p:nvPr/>
        </p:nvPicPr>
        <p:blipFill rotWithShape="1">
          <a:blip r:embed="rId3">
            <a:alphaModFix/>
          </a:blip>
          <a:srcRect b="50000" l="34750" r="35877" t="5357"/>
          <a:stretch/>
        </p:blipFill>
        <p:spPr>
          <a:xfrm>
            <a:off x="5407150" y="3126253"/>
            <a:ext cx="1372611" cy="149011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g391bf9d34e5_0_0"/>
          <p:cNvSpPr txBox="1"/>
          <p:nvPr/>
        </p:nvSpPr>
        <p:spPr>
          <a:xfrm>
            <a:off x="1806426" y="4531649"/>
            <a:ext cx="1372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Aktiv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istifadəçi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91bf9d34e5_0_0"/>
          <p:cNvSpPr txBox="1"/>
          <p:nvPr/>
        </p:nvSpPr>
        <p:spPr>
          <a:xfrm>
            <a:off x="5426786" y="4531649"/>
            <a:ext cx="1372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Orta aktiv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istifadəçi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91bf9d34e5_0_0"/>
          <p:cNvSpPr txBox="1"/>
          <p:nvPr/>
        </p:nvSpPr>
        <p:spPr>
          <a:xfrm>
            <a:off x="9000960" y="4531649"/>
            <a:ext cx="1372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Passiv istifadəçi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391bf9d34e5_0_0"/>
          <p:cNvSpPr/>
          <p:nvPr/>
        </p:nvSpPr>
        <p:spPr>
          <a:xfrm>
            <a:off x="1640792" y="2860917"/>
            <a:ext cx="1717800" cy="2820000"/>
          </a:xfrm>
          <a:prstGeom prst="rect">
            <a:avLst/>
          </a:prstGeom>
          <a:noFill/>
          <a:ln cap="flat" cmpd="sng" w="38100">
            <a:solidFill>
              <a:srgbClr val="AEAB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391bf9d34e5_0_0"/>
          <p:cNvSpPr/>
          <p:nvPr/>
        </p:nvSpPr>
        <p:spPr>
          <a:xfrm>
            <a:off x="5262891" y="2850796"/>
            <a:ext cx="1717800" cy="2820000"/>
          </a:xfrm>
          <a:prstGeom prst="rect">
            <a:avLst/>
          </a:prstGeom>
          <a:noFill/>
          <a:ln cap="flat" cmpd="sng" w="38100">
            <a:solidFill>
              <a:srgbClr val="AEAB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91bf9d34e5_0_0"/>
          <p:cNvSpPr/>
          <p:nvPr/>
        </p:nvSpPr>
        <p:spPr>
          <a:xfrm>
            <a:off x="8828411" y="2832446"/>
            <a:ext cx="1717800" cy="2820000"/>
          </a:xfrm>
          <a:prstGeom prst="rect">
            <a:avLst/>
          </a:prstGeom>
          <a:noFill/>
          <a:ln cap="flat" cmpd="sng" w="38100">
            <a:solidFill>
              <a:srgbClr val="AEAB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91bf9d34e5_0_0"/>
          <p:cNvSpPr txBox="1"/>
          <p:nvPr/>
        </p:nvSpPr>
        <p:spPr>
          <a:xfrm>
            <a:off x="2815703" y="1766023"/>
            <a:ext cx="6945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İstifadəçilər 3 klasterə bölünəcək: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91bf9d34e5_0_44"/>
          <p:cNvSpPr/>
          <p:nvPr/>
        </p:nvSpPr>
        <p:spPr>
          <a:xfrm>
            <a:off x="0" y="295835"/>
            <a:ext cx="12192000" cy="860700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91bf9d34e5_0_44"/>
          <p:cNvSpPr txBox="1"/>
          <p:nvPr>
            <p:ph type="title"/>
          </p:nvPr>
        </p:nvSpPr>
        <p:spPr>
          <a:xfrm>
            <a:off x="4069816" y="6335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Layihənin icrası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91bf9d34e5_0_44"/>
          <p:cNvSpPr txBox="1"/>
          <p:nvPr/>
        </p:nvSpPr>
        <p:spPr>
          <a:xfrm>
            <a:off x="371043" y="2098575"/>
            <a:ext cx="11144100" cy="49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pandas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pandas</a:t>
            </a:r>
            <a:r>
              <a:rPr lang="en-US" sz="1100">
                <a:solidFill>
                  <a:schemeClr val="dk1"/>
                </a:solidFill>
              </a:rPr>
              <a:t> kitabxanası istifadəçi məlumatlarını (post sayı, like, şərh, paylaşım, onlayn vaxt və s.) CSV fayldan oxumaq və cədvəl şəklində saxlamaq üçün istifadə olunmuşdur. Bu kitabxana verilənlərin rahat emalına imkan yaradır.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StandardScaler (sklearn.preprocessing)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İstifadəçi göstəriciləri fərqli ölçülərdə olduğu üçün (məsələn, onlayn vaxt böyük, post sayı isə kiçik ola bilər) verilənlər standartlaşdırılmışdır.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Bu addım klasterləşmənin daha düzgün aparılması üçün vacibdir.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Agglomerative Clustering (sklearn.cluster)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Bu alqoritm istifadəçiləri oxşar davranışlarına əsasən qruplaşdırır. Əvvəlcə hər istifadəçi ayrıca klaster kimi götürülür, sonra isə ən oxşar istifadəçilər birləşdirilərək klasterlər formalaşdırılır.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matplotlib.pyplot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Klasterləşmə nəticələrini qrafiklər vasitəsilə göstərmək üçün istifadə olunmuşdur. Vizual təqdimat nəticələrin daha asan başa düşülməsinə kömək edir.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scipy.cluster.hierarchy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Bu kitabxana klasterlərin necə formalaşdığını göstərən dendrogram qurmaq üçün istifadə olunmuşdur. Dendrogram klasterlərin birləşmə ardıcıllığını və uyğun klaster sayının seçilməsini vizual şəkildə göstərir.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91bf9d34e5_0_44"/>
          <p:cNvSpPr txBox="1"/>
          <p:nvPr/>
        </p:nvSpPr>
        <p:spPr>
          <a:xfrm>
            <a:off x="365378" y="1389048"/>
            <a:ext cx="6945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Layihədə aşağıdakı kitabxanalardan istifadə etdim: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"/>
          <p:cNvSpPr/>
          <p:nvPr/>
        </p:nvSpPr>
        <p:spPr>
          <a:xfrm>
            <a:off x="0" y="262023"/>
            <a:ext cx="12192000" cy="860612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 txBox="1"/>
          <p:nvPr>
            <p:ph type="title"/>
          </p:nvPr>
        </p:nvSpPr>
        <p:spPr>
          <a:xfrm>
            <a:off x="3907891" y="6335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Layihənin icrası</a:t>
            </a:r>
            <a:endParaRPr b="1" sz="80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Hierarchical Clustering in Machine Learning - GeeksforGeeks" id="242" name="Google Shape;242;p10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Google Shape;243;p10"/>
          <p:cNvPicPr preferRelativeResize="0"/>
          <p:nvPr>
            <p:ph idx="1" type="body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6664" y="1650387"/>
            <a:ext cx="4563600" cy="4563600"/>
          </a:xfrm>
          <a:prstGeom prst="rect">
            <a:avLst/>
          </a:prstGeom>
          <a:noFill/>
        </p:spPr>
      </p:pic>
      <p:sp>
        <p:nvSpPr>
          <p:cNvPr id="244" name="Google Shape;244;p10"/>
          <p:cNvSpPr txBox="1"/>
          <p:nvPr/>
        </p:nvSpPr>
        <p:spPr>
          <a:xfrm>
            <a:off x="4068314" y="1205600"/>
            <a:ext cx="50703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Proqram ümumi 3 hissədən ibarətdir:</a:t>
            </a:r>
            <a:endParaRPr b="1"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 txBox="1"/>
          <p:nvPr/>
        </p:nvSpPr>
        <p:spPr>
          <a:xfrm>
            <a:off x="8484452" y="2988059"/>
            <a:ext cx="31026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Aqqlomorativ klasterləşmə ilə istifadəçilərin klasterləşdirilməsi</a:t>
            </a:r>
            <a:endParaRPr sz="600"/>
          </a:p>
        </p:txBody>
      </p:sp>
      <p:sp>
        <p:nvSpPr>
          <p:cNvPr id="246" name="Google Shape;246;p10"/>
          <p:cNvSpPr/>
          <p:nvPr/>
        </p:nvSpPr>
        <p:spPr>
          <a:xfrm flipH="1">
            <a:off x="8223286" y="3079417"/>
            <a:ext cx="363000" cy="11457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3392075" y="1650375"/>
            <a:ext cx="515700" cy="14289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 txBox="1"/>
          <p:nvPr/>
        </p:nvSpPr>
        <p:spPr>
          <a:xfrm>
            <a:off x="261283" y="2149413"/>
            <a:ext cx="3130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Kitabxanaların və metodların çağırılması ,hazır verilənlərə istinad</a:t>
            </a:r>
            <a:endParaRPr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3389063" y="4341028"/>
            <a:ext cx="363000" cy="19065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 txBox="1"/>
          <p:nvPr/>
        </p:nvSpPr>
        <p:spPr>
          <a:xfrm>
            <a:off x="717254" y="5078863"/>
            <a:ext cx="3130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Nəticənin vizualizasiyası və nəticələrin çıxarılması</a:t>
            </a:r>
            <a:endParaRPr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91bf9d34e5_0_61"/>
          <p:cNvSpPr/>
          <p:nvPr/>
        </p:nvSpPr>
        <p:spPr>
          <a:xfrm>
            <a:off x="0" y="262023"/>
            <a:ext cx="12192000" cy="860700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91bf9d34e5_0_61"/>
          <p:cNvSpPr txBox="1"/>
          <p:nvPr>
            <p:ph type="title"/>
          </p:nvPr>
        </p:nvSpPr>
        <p:spPr>
          <a:xfrm>
            <a:off x="3907891" y="6335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Layihənin icrası</a:t>
            </a:r>
            <a:endParaRPr b="1" sz="80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Hierarchical Clustering in Machine Learning - GeeksforGeeks" id="257" name="Google Shape;257;g391bf9d34e5_0_61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g391bf9d34e5_0_61"/>
          <p:cNvPicPr preferRelativeResize="0"/>
          <p:nvPr>
            <p:ph idx="1" type="body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6664" y="1650387"/>
            <a:ext cx="4563600" cy="4563600"/>
          </a:xfrm>
          <a:prstGeom prst="rect">
            <a:avLst/>
          </a:prstGeom>
          <a:noFill/>
        </p:spPr>
      </p:pic>
      <p:sp>
        <p:nvSpPr>
          <p:cNvPr id="259" name="Google Shape;259;g391bf9d34e5_0_61"/>
          <p:cNvSpPr/>
          <p:nvPr/>
        </p:nvSpPr>
        <p:spPr>
          <a:xfrm>
            <a:off x="3572573" y="1875313"/>
            <a:ext cx="174000" cy="7251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91bf9d34e5_0_61"/>
          <p:cNvSpPr txBox="1"/>
          <p:nvPr/>
        </p:nvSpPr>
        <p:spPr>
          <a:xfrm>
            <a:off x="543623" y="1519622"/>
            <a:ext cx="3102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mühitinə lazım olan kitabxanaları quraşdırır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91bf9d34e5_0_61"/>
          <p:cNvSpPr txBox="1"/>
          <p:nvPr/>
        </p:nvSpPr>
        <p:spPr>
          <a:xfrm>
            <a:off x="543622" y="2035427"/>
            <a:ext cx="3102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Kitabxanaları Python skriptində istifadə etmək üçün import edirik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g391bf9d34e5_0_61"/>
          <p:cNvSpPr/>
          <p:nvPr/>
        </p:nvSpPr>
        <p:spPr>
          <a:xfrm>
            <a:off x="3564198" y="1650373"/>
            <a:ext cx="174000" cy="2433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91bf9d34e5_0_61"/>
          <p:cNvSpPr/>
          <p:nvPr/>
        </p:nvSpPr>
        <p:spPr>
          <a:xfrm>
            <a:off x="3572573" y="2760438"/>
            <a:ext cx="174000" cy="2115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391bf9d34e5_0_61"/>
          <p:cNvSpPr txBox="1"/>
          <p:nvPr/>
        </p:nvSpPr>
        <p:spPr>
          <a:xfrm>
            <a:off x="557109" y="2702091"/>
            <a:ext cx="3102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mo"/>
              <a:buNone/>
            </a:pPr>
            <a:r>
              <a:rPr i="0" lang="en-US" sz="105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social_users.csv</a:t>
            </a:r>
            <a:r>
              <a:rPr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faylını oxuyur və </a:t>
            </a:r>
            <a:r>
              <a:rPr lang="en-US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ataframe kimi </a:t>
            </a:r>
            <a:r>
              <a:rPr i="0" lang="en-US" sz="105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df</a:t>
            </a:r>
            <a:r>
              <a:rPr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dəyişəninə saxlayır. </a:t>
            </a:r>
            <a:endParaRPr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91bf9d34e5_0_61"/>
          <p:cNvSpPr txBox="1"/>
          <p:nvPr/>
        </p:nvSpPr>
        <p:spPr>
          <a:xfrm>
            <a:off x="8484452" y="2988059"/>
            <a:ext cx="3102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mo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df.select_dtypes(include=['int64', 'float64'])</a:t>
            </a: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yalnız </a:t>
            </a:r>
            <a:r>
              <a:rPr b="1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rəqəmsal sütunları</a:t>
            </a: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seçir (clustering üçün lazımdır, çünki mətni klasterləşdirmək olmur) </a:t>
            </a:r>
            <a:endParaRPr/>
          </a:p>
        </p:txBody>
      </p:sp>
      <p:sp>
        <p:nvSpPr>
          <p:cNvPr id="266" name="Google Shape;266;g391bf9d34e5_0_61"/>
          <p:cNvSpPr/>
          <p:nvPr/>
        </p:nvSpPr>
        <p:spPr>
          <a:xfrm flipH="1">
            <a:off x="8223406" y="3079394"/>
            <a:ext cx="174000" cy="3048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91bf9d34e5_0_61"/>
          <p:cNvSpPr/>
          <p:nvPr/>
        </p:nvSpPr>
        <p:spPr>
          <a:xfrm>
            <a:off x="3600131" y="3612765"/>
            <a:ext cx="174000" cy="3048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91bf9d34e5_0_61"/>
          <p:cNvSpPr txBox="1"/>
          <p:nvPr/>
        </p:nvSpPr>
        <p:spPr>
          <a:xfrm>
            <a:off x="671714" y="3565140"/>
            <a:ext cx="3102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Yoxlayır ki, heç bir rəqəmsal sütun yoxdursa, kod dayansın və istifadəçiyə xəbər versin.</a:t>
            </a:r>
            <a:endParaRPr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91bf9d34e5_0_61"/>
          <p:cNvSpPr txBox="1"/>
          <p:nvPr/>
        </p:nvSpPr>
        <p:spPr>
          <a:xfrm>
            <a:off x="7205864" y="3980638"/>
            <a:ext cx="4563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hər sütunu </a:t>
            </a:r>
            <a:r>
              <a:rPr b="1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ortalama, 1 standart deviasiya</a:t>
            </a: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ilə standartlaşdırır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91bf9d34e5_0_61"/>
          <p:cNvSpPr/>
          <p:nvPr/>
        </p:nvSpPr>
        <p:spPr>
          <a:xfrm flipH="1">
            <a:off x="6849264" y="3980638"/>
            <a:ext cx="174000" cy="3048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91bf9d34e5_0_61"/>
          <p:cNvSpPr/>
          <p:nvPr/>
        </p:nvSpPr>
        <p:spPr>
          <a:xfrm>
            <a:off x="3324225" y="4394545"/>
            <a:ext cx="450000" cy="9807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391bf9d34e5_0_61"/>
          <p:cNvSpPr txBox="1"/>
          <p:nvPr/>
        </p:nvSpPr>
        <p:spPr>
          <a:xfrm>
            <a:off x="2645365" y="4746410"/>
            <a:ext cx="3102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Qrafik</a:t>
            </a:r>
            <a:endParaRPr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91bf9d34e5_0_61"/>
          <p:cNvSpPr/>
          <p:nvPr/>
        </p:nvSpPr>
        <p:spPr>
          <a:xfrm>
            <a:off x="3572573" y="5465813"/>
            <a:ext cx="201600" cy="3507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g391bf9d34e5_0_61"/>
          <p:cNvSpPr txBox="1"/>
          <p:nvPr/>
        </p:nvSpPr>
        <p:spPr>
          <a:xfrm>
            <a:off x="572283" y="5465813"/>
            <a:ext cx="3130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İstifadəçiləri 3 klasterə bölür və dataframe-ə klaster sütunu əlavə ed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ir.</a:t>
            </a:r>
            <a:endParaRPr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91bf9d34e5_0_61"/>
          <p:cNvSpPr/>
          <p:nvPr/>
        </p:nvSpPr>
        <p:spPr>
          <a:xfrm>
            <a:off x="3550437" y="5896700"/>
            <a:ext cx="201600" cy="3507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g391bf9d34e5_0_61"/>
          <p:cNvSpPr txBox="1"/>
          <p:nvPr/>
        </p:nvSpPr>
        <p:spPr>
          <a:xfrm>
            <a:off x="572283" y="5896700"/>
            <a:ext cx="3130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Bütün dataseti klasterlə birlikdə göstərir və istifadəçi sayını göstərir.</a:t>
            </a:r>
            <a:endParaRPr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1"/>
          <p:cNvSpPr/>
          <p:nvPr/>
        </p:nvSpPr>
        <p:spPr>
          <a:xfrm>
            <a:off x="0" y="262023"/>
            <a:ext cx="12192000" cy="860612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 txBox="1"/>
          <p:nvPr>
            <p:ph type="title"/>
          </p:nvPr>
        </p:nvSpPr>
        <p:spPr>
          <a:xfrm>
            <a:off x="3907891" y="6335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Layihənin icrası</a:t>
            </a:r>
            <a:endParaRPr b="1" sz="800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Hierarchical Clustering in Machine Learning - GeeksforGeeks" id="283" name="Google Shape;283;p11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 txBox="1"/>
          <p:nvPr/>
        </p:nvSpPr>
        <p:spPr>
          <a:xfrm>
            <a:off x="3076486" y="1778763"/>
            <a:ext cx="68439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Sonda aktiv, orta aktiv,passiv istifadəçilərin sayını çap edir: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5" name="Google Shape;28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5977" y="3112995"/>
            <a:ext cx="3373908" cy="1681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2115" y="3259447"/>
            <a:ext cx="3195212" cy="145045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7" name="Google Shape;287;p11"/>
          <p:cNvCxnSpPr/>
          <p:nvPr/>
        </p:nvCxnSpPr>
        <p:spPr>
          <a:xfrm>
            <a:off x="5299817" y="3819971"/>
            <a:ext cx="1410056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2"/>
          <p:cNvSpPr/>
          <p:nvPr/>
        </p:nvSpPr>
        <p:spPr>
          <a:xfrm>
            <a:off x="0" y="295835"/>
            <a:ext cx="12192000" cy="860612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 txBox="1"/>
          <p:nvPr>
            <p:ph type="title"/>
          </p:nvPr>
        </p:nvSpPr>
        <p:spPr>
          <a:xfrm>
            <a:off x="4069816" y="6335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Dendrogram</a:t>
            </a:r>
            <a:endParaRPr/>
          </a:p>
        </p:txBody>
      </p:sp>
      <p:sp>
        <p:nvSpPr>
          <p:cNvPr descr="Hierarchical Clustering in Machine Learning - GeeksforGeeks" id="294" name="Google Shape;294;p12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5" name="Google Shape;295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096" y="1388922"/>
            <a:ext cx="11118931" cy="4992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91bf9d34e5_0_139"/>
          <p:cNvSpPr/>
          <p:nvPr/>
        </p:nvSpPr>
        <p:spPr>
          <a:xfrm>
            <a:off x="0" y="295835"/>
            <a:ext cx="12192000" cy="860700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91bf9d34e5_0_139"/>
          <p:cNvSpPr txBox="1"/>
          <p:nvPr>
            <p:ph type="title"/>
          </p:nvPr>
        </p:nvSpPr>
        <p:spPr>
          <a:xfrm>
            <a:off x="4069816" y="6335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Dendrogram</a:t>
            </a:r>
            <a:endParaRPr/>
          </a:p>
        </p:txBody>
      </p:sp>
      <p:sp>
        <p:nvSpPr>
          <p:cNvPr descr="Hierarchical Clustering in Machine Learning - GeeksforGeeks" id="302" name="Google Shape;302;g391bf9d34e5_0_139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3" name="Google Shape;303;g391bf9d34e5_0_13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7800" y="1784350"/>
            <a:ext cx="10335300" cy="464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g391bf9d34e5_0_139"/>
          <p:cNvSpPr txBox="1"/>
          <p:nvPr/>
        </p:nvSpPr>
        <p:spPr>
          <a:xfrm>
            <a:off x="2888011" y="1285788"/>
            <a:ext cx="684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Məsafəni 2.5 götürdüyümüz halda istifadəçilər 3 klasterə bölünür: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5" name="Google Shape;305;g391bf9d34e5_0_139"/>
          <p:cNvCxnSpPr/>
          <p:nvPr/>
        </p:nvCxnSpPr>
        <p:spPr>
          <a:xfrm>
            <a:off x="1786275" y="5355904"/>
            <a:ext cx="9438900" cy="14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3"/>
          <p:cNvSpPr/>
          <p:nvPr/>
        </p:nvSpPr>
        <p:spPr>
          <a:xfrm>
            <a:off x="0" y="295835"/>
            <a:ext cx="12192000" cy="860612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 txBox="1"/>
          <p:nvPr>
            <p:ph type="title"/>
          </p:nvPr>
        </p:nvSpPr>
        <p:spPr>
          <a:xfrm>
            <a:off x="4642385" y="7813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Mənbələr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Hierarchical Clustering in Machine Learning - GeeksforGeeks" id="312" name="Google Shape;312;p13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IBM. (n.d.). </a:t>
            </a:r>
            <a:r>
              <a:rPr i="1" lang="en-US"/>
              <a:t>What is hierarchical clustering?</a:t>
            </a:r>
            <a:r>
              <a:rPr lang="en-US"/>
              <a:t> Retrieved December 10, 2025, from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https://www.ibm.com/think/topics/hierarchical-clustering</a:t>
            </a:r>
            <a:r>
              <a:rPr lang="en-US"/>
              <a:t>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GeeksforGeeks. (n.d.). </a:t>
            </a:r>
            <a:r>
              <a:rPr i="1" lang="en-US"/>
              <a:t>Hierarchical clustering</a:t>
            </a:r>
            <a:r>
              <a:rPr lang="en-US"/>
              <a:t>. Retrieved December 10, 2025, from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https://www.geeksforgeeks.org/machine-learning/hierarchical-clustering/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91bf9d34e5_0_148"/>
          <p:cNvSpPr/>
          <p:nvPr/>
        </p:nvSpPr>
        <p:spPr>
          <a:xfrm>
            <a:off x="0" y="295835"/>
            <a:ext cx="12192000" cy="860700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g391bf9d34e5_0_148"/>
          <p:cNvSpPr txBox="1"/>
          <p:nvPr>
            <p:ph type="title"/>
          </p:nvPr>
        </p:nvSpPr>
        <p:spPr>
          <a:xfrm>
            <a:off x="3062022" y="6333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Layihənin github linki</a:t>
            </a:r>
            <a:endParaRPr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Hierarchical Clustering in Machine Learning - GeeksforGeeks" id="320" name="Google Shape;320;g391bf9d34e5_0_148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g391bf9d34e5_0_14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https://github.com/Aysel04/My-project/tree/main/Suni%20intellekt%20s%C9%99rb%C9%99st%20i%C5%9F_Qarayeva%20Aysel%20m665a4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2025-12-09T11:25:07Z</dcterms:created>
  <dc:creator>Muellimler otagi14</dc:creator>
</cp:coreProperties>
</file>