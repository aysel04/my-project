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w/6fkNi8ISBEXeKExnvzWAKn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1bf9d34e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1bf9d34e5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bf9d34e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1bf9d34e5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1bf9d34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91bf9d34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1bf9d34e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1bf9d34e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1bf9d34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91bf9d34e5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1bf9d34e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91bf9d34e5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1bf9d34e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1bf9d34e5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ibm.com/think/topics/hierarchical-clustering?utm_source=chatgpt.com" TargetMode="External"/><Relationship Id="rId4" Type="http://schemas.openxmlformats.org/officeDocument/2006/relationships/hyperlink" Target="https://www.geeksforgeeks.org/machine-learning/hierarchical-clustering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3712256" y="-328426"/>
            <a:ext cx="990961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Azərbaycan Texniki Universiteti</a:t>
            </a:r>
            <a:endParaRPr sz="48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3712256" y="260111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Fənn : Süni intellektin əsasları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Müəllim : Abbaslı Cavid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Qrup : M665A4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Tələbə : Qarayeva Aysel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Mövzu : Sosial şəbəkə istifadəçilərinin davranışlarını İerarxik klasterləşdirmə təhlili.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30300" l="0" r="0" t="0"/>
          <a:stretch/>
        </p:blipFill>
        <p:spPr>
          <a:xfrm>
            <a:off x="1387662" y="1310622"/>
            <a:ext cx="2587318" cy="3676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idx="1" type="body"/>
          </p:nvPr>
        </p:nvSpPr>
        <p:spPr>
          <a:xfrm>
            <a:off x="265112" y="1845310"/>
            <a:ext cx="55223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Sosial şəbəkələrdə istifadəçi sayı sürətlə artır və hər gün böyük həcmdə davranış məlumatı yaranır.</a:t>
            </a:r>
            <a:br>
              <a:rPr lang="en-US" sz="2400"/>
            </a:br>
            <a:r>
              <a:rPr lang="en-US" sz="2400"/>
              <a:t>Bu məlumatlar istifadəçilərin platformalarda necə davrandığını anlamaq üçün mühüm resursdur.</a:t>
            </a:r>
            <a:br>
              <a:rPr lang="en-US" sz="2400"/>
            </a:br>
            <a:r>
              <a:rPr lang="en-US" sz="2400"/>
              <a:t>Davranışların qruplaşdırılması sosial şəbəkə idarəçilərinə və şirkətlərə istifadəçiləri daha düzgün anlamağa kömək edir.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12 Obscure Social Media Platforms You Didn't Know Exist - All Pro Dad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494" y="1845310"/>
            <a:ext cx="5522394" cy="36804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idx="1" type="body"/>
          </p:nvPr>
        </p:nvSpPr>
        <p:spPr>
          <a:xfrm>
            <a:off x="5888672" y="1838960"/>
            <a:ext cx="55223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Oxşar davranış göstərən istifadəçilərin müəyyənləşdirilməsi xidmətlərin fərdiləşdirilməsini asanlaşdırır.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Davranış modellərinin təhlili marketinq, təhlükəsizlik və məzmun idarəçiliyi kimi sahələrdə daha səmərəli qərarverməyə imkan yaradır.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İerarxik klasterləşdirmə istifadəçi qruplarını daha dəqiq və vizual şəkildə təqdim etməyə şərait yaradır.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323" y="1845310"/>
            <a:ext cx="5174092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1bf9d34e5_0_130"/>
          <p:cNvSpPr txBox="1"/>
          <p:nvPr>
            <p:ph idx="1" type="body"/>
          </p:nvPr>
        </p:nvSpPr>
        <p:spPr>
          <a:xfrm>
            <a:off x="451576" y="1549024"/>
            <a:ext cx="6467400" cy="4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İstifadəçilərin klasterləşdirilməsi real həyatda bir çox sahədə istifadə olunur. Çünki bu üsul insanların davranışını daha yaxşı anlamağa kömək edir.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Rəqəmsal marketinqdə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klasterləşmə müştəriləri aktivliyinə görə qruplaşdırmağa imkan verir. Məsələn, çox aktiv istifadəçilərə yeni məhsullar göstərilir, az aktiv olanlara isə endirimlər və təşviq mesajları göndərilir.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Sosial şəbəkələrdə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bu üsul istifadəçilərin maraqlarını və davranışlarını anlamaq üçün vacibdir. Aktiv istifadəçilərə daha uyğun məzmun təklif olunur, passiv istifadəçilər isə bildirişlərlə platformaya qaytarılmağa çalışılır.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Biznes sahəsində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klasterləşmə müştəriləri daha yaxşı tanımağa kömək edir. Nəticədə şirkətlər hansı müştərilərin sadiq, hansılarının isə az aktiv olduğunu görə bilirlər.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Təhsil sahəsində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tələbələr dərslərdəki aktivliyinə görə qruplaşdırıla bilər. Bu da passiv tələbələrə vaxtında əlavə dəstək göstərməyə imkan yaradır.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Kibertəhlükəsizlikdə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istifadəçi davranışları müqayisə edilərək qeyri-adi və şübhəli hesablar aşkar edilə bilər.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Sağlamlıq tətbiqlərində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isə insanların gündəlik aktivliyi analiz olunur və hər istifadəçiyə uyğun tövsiyələr verilir.</a:t>
            </a:r>
            <a:endParaRPr sz="3000"/>
          </a:p>
        </p:txBody>
      </p:sp>
      <p:sp>
        <p:nvSpPr>
          <p:cNvPr id="108" name="Google Shape;108;g391bf9d34e5_0_130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91bf9d34e5_0_130"/>
          <p:cNvSpPr txBox="1"/>
          <p:nvPr>
            <p:ph type="title"/>
          </p:nvPr>
        </p:nvSpPr>
        <p:spPr>
          <a:xfrm>
            <a:off x="3907891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91bf9d34e5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0875" y="1627550"/>
            <a:ext cx="4272675" cy="42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225304" y="1781418"/>
            <a:ext cx="587069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Klasterləşdirmə — oxşar xüsusiyyətlərə malik obyektləri qruplaşdıran statistik analiz üsuludur. Məqsəd: böyük və qarışıq məlumatdan mənalı qruplar yaratmaq. Klasterləşdirmə növləri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K-means klasterləşdirmə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• DBSCAN sıxlıq əsaslı klasterləşdirmə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• İerarxik klasterləşdirmə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724" y="1781418"/>
            <a:ext cx="5343276" cy="359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5873380" y="1743449"/>
            <a:ext cx="587069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İerarxik klasterləşdirmə nəzarətsiz maşın öyrənməsi alqoritmidir və məlumatları bir-biri içində yerləşən klasterlərdən ibarət ağac şəklində qruplaşdırır. Əsas növlərinə aqqlomorativ (aşağıdan-yuxarıya) və divisiv (yuxarıdan-aşağıya) metodlar daxildir. İerarxik klaster analizi datasetlərdəki nümunə və əlaqələri tapmağa kömək edir. Nəticələr klasterlər arasındakı məsafə münasibətlərini göstərən dendrogram diaqramı vasitəsilə təqdim olunur.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İerarxik klasterləşdirmə</a:t>
            </a:r>
            <a:endParaRPr b="1" sz="96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ustering(K-Mean and Hierarchical) with Practical Implementation | by Amir  Ali | Aorb Tech | Medium" id="126" name="Google Shape;126;p5"/>
          <p:cNvPicPr preferRelativeResize="0"/>
          <p:nvPr/>
        </p:nvPicPr>
        <p:blipFill rotWithShape="1">
          <a:blip r:embed="rId3">
            <a:alphaModFix/>
          </a:blip>
          <a:srcRect b="7164" l="53201" r="3752" t="40992"/>
          <a:stretch/>
        </p:blipFill>
        <p:spPr>
          <a:xfrm>
            <a:off x="833719" y="2138082"/>
            <a:ext cx="3993775" cy="360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589430" y="1621398"/>
            <a:ext cx="110131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İerarxik klasterləşdirmənin iki növü var:</a:t>
            </a:r>
            <a:endParaRPr sz="2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Aqqlomorativ (aşağıdan-yuxarıya) yanaşma:</a:t>
            </a:r>
            <a:r>
              <a:rPr lang="en-US" sz="2000"/>
              <a:t> Kiçik klasterlər ardıcıl şəkildə birləşdirilərək sonda tək bir klaster əmələ gətirilir.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Divisiv (yuxarıdan-aşağıya) yanaşma:</a:t>
            </a:r>
            <a:r>
              <a:rPr lang="en-US" sz="2000"/>
              <a:t> Bütün məlumatlar əvvəlcə tək bir klasterdə olur, daha sonra klasterlər ardıcıllıqla bölünərək hər biri tək nümunəyə qədər parçalanır.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34" name="Google Shape;134;p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gglomerative Hierarchical Clustering - Datanovia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503" y="3668954"/>
            <a:ext cx="5924193" cy="289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589430" y="1621398"/>
            <a:ext cx="110131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Aqqlomorativ klasterləşmədə</a:t>
            </a:r>
            <a:r>
              <a:rPr lang="en-US" sz="1400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Hər müşahidə (data point) ayrı klaster kimi başlanır.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Ən oxşar iki klaster birləşdirilir.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Bu proses tək klaster qalana qədər davam edir.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41" name="Google Shape;141;p7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43" name="Google Shape;143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1273" y="3429000"/>
            <a:ext cx="6994253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bf9d34e5_0_86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91bf9d34e5_0_86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51" name="Google Shape;151;g391bf9d34e5_0_8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91bf9d34e5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95" y="1206563"/>
            <a:ext cx="8150214" cy="565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40458" t="0"/>
          <a:stretch/>
        </p:blipFill>
        <p:spPr>
          <a:xfrm>
            <a:off x="2196738" y="1884125"/>
            <a:ext cx="4736650" cy="47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3047668" y="1884125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xüsusiyyətə (</a:t>
            </a:r>
            <a:r>
              <a:rPr b="1" lang="en-US" sz="2300">
                <a:solidFill>
                  <a:schemeClr val="dk1"/>
                </a:solidFill>
                <a:highlight>
                  <a:schemeClr val="lt1"/>
                </a:highlight>
              </a:rPr>
              <a:t>feature</a:t>
            </a: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görə analiz aparılacaq.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-178169" y="4907325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308150" y="4907325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2562475" y="4900232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055338" y="4907662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4">
            <a:alphaModFix/>
          </a:blip>
          <a:srcRect b="26929" l="53133" r="0" t="49083"/>
          <a:stretch/>
        </p:blipFill>
        <p:spPr>
          <a:xfrm>
            <a:off x="7005888" y="3693675"/>
            <a:ext cx="2590080" cy="132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5406488" y="4900237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time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5">
            <a:alphaModFix/>
          </a:blip>
          <a:srcRect b="0" l="48453" r="0" t="0"/>
          <a:stretch/>
        </p:blipFill>
        <p:spPr>
          <a:xfrm>
            <a:off x="8315224" y="3642550"/>
            <a:ext cx="1185525" cy="12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74" name="Google Shape;174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77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82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150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002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2800" y="5469072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125" y="5469072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6400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6781" y="5454573"/>
            <a:ext cx="647950" cy="647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8"/>
          <p:cNvCxnSpPr/>
          <p:nvPr/>
        </p:nvCxnSpPr>
        <p:spPr>
          <a:xfrm>
            <a:off x="1612275" y="5268925"/>
            <a:ext cx="955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8"/>
          <p:cNvSpPr/>
          <p:nvPr/>
        </p:nvSpPr>
        <p:spPr>
          <a:xfrm>
            <a:off x="2250225" y="5210925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765099" y="5232835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816433" y="5211247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63290" y="5204159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296074" y="5197070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376407" y="5204481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239682" y="5197393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667562" y="5204803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 flipH="1" rot="10800000">
            <a:off x="2300925" y="4602021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8"/>
          <p:cNvCxnSpPr/>
          <p:nvPr/>
        </p:nvCxnSpPr>
        <p:spPr>
          <a:xfrm flipH="1" rot="10800000">
            <a:off x="2815799" y="4609431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8"/>
          <p:cNvCxnSpPr/>
          <p:nvPr/>
        </p:nvCxnSpPr>
        <p:spPr>
          <a:xfrm flipH="1" rot="10800000">
            <a:off x="3881632" y="4602343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8"/>
          <p:cNvCxnSpPr/>
          <p:nvPr/>
        </p:nvCxnSpPr>
        <p:spPr>
          <a:xfrm flipH="1" rot="10800000">
            <a:off x="4613990" y="4595255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8"/>
          <p:cNvCxnSpPr/>
          <p:nvPr/>
        </p:nvCxnSpPr>
        <p:spPr>
          <a:xfrm flipH="1" rot="10800000">
            <a:off x="6346774" y="4602665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8"/>
          <p:cNvCxnSpPr/>
          <p:nvPr/>
        </p:nvCxnSpPr>
        <p:spPr>
          <a:xfrm flipH="1" rot="10800000">
            <a:off x="7427107" y="4595577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8"/>
          <p:cNvCxnSpPr/>
          <p:nvPr/>
        </p:nvCxnSpPr>
        <p:spPr>
          <a:xfrm flipH="1" rot="10800000">
            <a:off x="9725350" y="4588488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8"/>
          <p:cNvCxnSpPr/>
          <p:nvPr/>
        </p:nvCxnSpPr>
        <p:spPr>
          <a:xfrm flipH="1" rot="10800000">
            <a:off x="9283294" y="4595899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8"/>
          <p:cNvCxnSpPr/>
          <p:nvPr/>
        </p:nvCxnSpPr>
        <p:spPr>
          <a:xfrm>
            <a:off x="2308225" y="4645450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8"/>
          <p:cNvCxnSpPr/>
          <p:nvPr/>
        </p:nvCxnSpPr>
        <p:spPr>
          <a:xfrm>
            <a:off x="3881521" y="4652861"/>
            <a:ext cx="746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8"/>
          <p:cNvCxnSpPr/>
          <p:nvPr/>
        </p:nvCxnSpPr>
        <p:spPr>
          <a:xfrm flipH="1" rot="10800000">
            <a:off x="6368251" y="4630973"/>
            <a:ext cx="1058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8"/>
          <p:cNvCxnSpPr/>
          <p:nvPr/>
        </p:nvCxnSpPr>
        <p:spPr>
          <a:xfrm flipH="1" rot="10800000">
            <a:off x="9296725" y="4623750"/>
            <a:ext cx="4569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8"/>
          <p:cNvCxnSpPr/>
          <p:nvPr/>
        </p:nvCxnSpPr>
        <p:spPr>
          <a:xfrm flipH="1" rot="10800000">
            <a:off x="2540225" y="3746625"/>
            <a:ext cx="16095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8"/>
          <p:cNvCxnSpPr/>
          <p:nvPr/>
        </p:nvCxnSpPr>
        <p:spPr>
          <a:xfrm flipH="1" rot="10800000">
            <a:off x="2525725" y="37464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8"/>
          <p:cNvCxnSpPr/>
          <p:nvPr/>
        </p:nvCxnSpPr>
        <p:spPr>
          <a:xfrm flipH="1" rot="10800000">
            <a:off x="4127345" y="37465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8"/>
          <p:cNvCxnSpPr/>
          <p:nvPr/>
        </p:nvCxnSpPr>
        <p:spPr>
          <a:xfrm flipH="1" rot="10800000">
            <a:off x="6883332" y="37464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8"/>
          <p:cNvCxnSpPr/>
          <p:nvPr/>
        </p:nvCxnSpPr>
        <p:spPr>
          <a:xfrm flipH="1" rot="10800000">
            <a:off x="9517982" y="3739377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8"/>
          <p:cNvCxnSpPr/>
          <p:nvPr/>
        </p:nvCxnSpPr>
        <p:spPr>
          <a:xfrm rot="10800000">
            <a:off x="6904400" y="3761025"/>
            <a:ext cx="263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8"/>
          <p:cNvSpPr txBox="1"/>
          <p:nvPr/>
        </p:nvSpPr>
        <p:spPr>
          <a:xfrm>
            <a:off x="3047668" y="1884125"/>
            <a:ext cx="6945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İstifadəçilərin verilənləri normallaşdırılır və yaxın yerləşənlər birləşdirilir.Beləliklə klasterlər yaranır.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1bf9d34e5_0_0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1bf9d34e5_0_0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17" name="Google Shape;217;g391bf9d34e5_0_0"/>
          <p:cNvSpPr/>
          <p:nvPr/>
        </p:nvSpPr>
        <p:spPr>
          <a:xfrm>
            <a:off x="5960691" y="461636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 icon set. Different user collection, User Interface in flat style ..." id="218" name="Google Shape;218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1806426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set. Different user collection, User Interface in flat style ..." id="219" name="Google Shape;219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8954775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set. Different user collection, User Interface in flat style ..." id="220" name="Google Shape;220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5407150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91bf9d34e5_0_0"/>
          <p:cNvSpPr txBox="1"/>
          <p:nvPr/>
        </p:nvSpPr>
        <p:spPr>
          <a:xfrm>
            <a:off x="1806426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Aktiv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1bf9d34e5_0_0"/>
          <p:cNvSpPr txBox="1"/>
          <p:nvPr/>
        </p:nvSpPr>
        <p:spPr>
          <a:xfrm>
            <a:off x="5426786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Orta aktiv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1bf9d34e5_0_0"/>
          <p:cNvSpPr txBox="1"/>
          <p:nvPr/>
        </p:nvSpPr>
        <p:spPr>
          <a:xfrm>
            <a:off x="9000960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 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1bf9d34e5_0_0"/>
          <p:cNvSpPr/>
          <p:nvPr/>
        </p:nvSpPr>
        <p:spPr>
          <a:xfrm>
            <a:off x="1640792" y="2860917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91bf9d34e5_0_0"/>
          <p:cNvSpPr/>
          <p:nvPr/>
        </p:nvSpPr>
        <p:spPr>
          <a:xfrm>
            <a:off x="5262891" y="2850796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91bf9d34e5_0_0"/>
          <p:cNvSpPr/>
          <p:nvPr/>
        </p:nvSpPr>
        <p:spPr>
          <a:xfrm>
            <a:off x="8828411" y="2832446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91bf9d34e5_0_0"/>
          <p:cNvSpPr txBox="1"/>
          <p:nvPr/>
        </p:nvSpPr>
        <p:spPr>
          <a:xfrm>
            <a:off x="2815703" y="1766023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İstifadəçilər 3 klasterə bölünəcək: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1bf9d34e5_0_44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1bf9d34e5_0_44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91bf9d34e5_0_44"/>
          <p:cNvSpPr txBox="1"/>
          <p:nvPr/>
        </p:nvSpPr>
        <p:spPr>
          <a:xfrm>
            <a:off x="371043" y="2098575"/>
            <a:ext cx="111441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pandas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-US" sz="1100">
                <a:solidFill>
                  <a:schemeClr val="dk1"/>
                </a:solidFill>
              </a:rPr>
              <a:t> kitabxanası istifadəçi məlumatlarını (post sayı, like, şərh, paylaşım, onlayn vaxt və s.) CSV fayldan oxumaq və cədvəl şəklində saxlamaq üçün istifadə olunmuşdur. Bu kitabxana verilənlərin rahat emalına imkan yaradır.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StandardScaler (sklearn.preprocessing)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İstifadəçi göstəriciləri fərqli ölçülərdə olduğu üçün (məsələn, onlayn vaxt böyük, post sayı isə kiçik ola bilər) verilənlər standartlaşdırılmışdır.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Bu addım klasterləşmənin daha düzgün aparılması üçün vacibdir.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Agglomerative Clustering (sklearn.cluster)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Bu alqoritm istifadəçiləri oxşar davranışlarına əsasən qruplaşdırır. Əvvəlcə hər istifadəçi ayrıca klaster kimi götürülür, sonra isə ən oxşar istifadəçilər birləşdirilərək klasterlər formalaşdırılır.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matplotlib.pyplot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Klasterləşmə nəticələrini qrafiklər vasitəsilə göstərmək üçün istifadə olunmuşdur. Vizual təqdimat nəticələrin daha asan başa düşülməsinə kömək edir.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scipy.cluster.hierarchy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Bu kitabxana klasterlərin necə formalaşdığını göstərən dendrogram qurmaq üçün istifadə olunmuşdur. Dendrogram klasterlərin birləşmə ardıcıllığını və uyğun klaster sayının seçilməsini vizual şəkildə göstərir.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1bf9d34e5_0_44"/>
          <p:cNvSpPr txBox="1"/>
          <p:nvPr/>
        </p:nvSpPr>
        <p:spPr>
          <a:xfrm>
            <a:off x="365378" y="1389048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Layihədə aşağıdakı kitabxanalardan istifadə etdim: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262023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42" name="Google Shape;242;p1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0"/>
          <p:cNvPicPr preferRelativeResize="0"/>
          <p:nvPr>
            <p:ph idx="1" type="body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664" y="1650387"/>
            <a:ext cx="4563600" cy="4563600"/>
          </a:xfrm>
          <a:prstGeom prst="rect">
            <a:avLst/>
          </a:prstGeom>
          <a:noFill/>
        </p:spPr>
      </p:pic>
      <p:sp>
        <p:nvSpPr>
          <p:cNvPr id="244" name="Google Shape;244;p10"/>
          <p:cNvSpPr txBox="1"/>
          <p:nvPr/>
        </p:nvSpPr>
        <p:spPr>
          <a:xfrm>
            <a:off x="4068314" y="1205600"/>
            <a:ext cx="507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Proqram ümumi 3 hissədən ibarətdir:</a:t>
            </a:r>
            <a:endParaRPr b="1"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8484452" y="2988059"/>
            <a:ext cx="3102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Aqqlomorativ klasterləşmə ilə istifadəçilərin klasterləşdirilməsi</a:t>
            </a:r>
            <a:endParaRPr sz="600"/>
          </a:p>
        </p:txBody>
      </p:sp>
      <p:sp>
        <p:nvSpPr>
          <p:cNvPr id="246" name="Google Shape;246;p10"/>
          <p:cNvSpPr/>
          <p:nvPr/>
        </p:nvSpPr>
        <p:spPr>
          <a:xfrm flipH="1">
            <a:off x="8223286" y="3079417"/>
            <a:ext cx="363000" cy="1145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392075" y="1650375"/>
            <a:ext cx="515700" cy="1428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261283" y="214941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Kitabxanaların və metodların çağırılması ,hazır verilənlərə istinad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389063" y="4341028"/>
            <a:ext cx="363000" cy="1906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717254" y="507886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Nəticənin vizualizasiyası və nəticələrin çıxarılması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bf9d34e5_0_61"/>
          <p:cNvSpPr/>
          <p:nvPr/>
        </p:nvSpPr>
        <p:spPr>
          <a:xfrm>
            <a:off x="0" y="262023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1bf9d34e5_0_61"/>
          <p:cNvSpPr txBox="1"/>
          <p:nvPr>
            <p:ph type="title"/>
          </p:nvPr>
        </p:nvSpPr>
        <p:spPr>
          <a:xfrm>
            <a:off x="3907891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57" name="Google Shape;257;g391bf9d34e5_0_6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91bf9d34e5_0_61"/>
          <p:cNvPicPr preferRelativeResize="0"/>
          <p:nvPr>
            <p:ph idx="1" type="body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664" y="1650387"/>
            <a:ext cx="4563600" cy="4563600"/>
          </a:xfrm>
          <a:prstGeom prst="rect">
            <a:avLst/>
          </a:prstGeom>
          <a:noFill/>
        </p:spPr>
      </p:pic>
      <p:sp>
        <p:nvSpPr>
          <p:cNvPr id="259" name="Google Shape;259;g391bf9d34e5_0_61"/>
          <p:cNvSpPr/>
          <p:nvPr/>
        </p:nvSpPr>
        <p:spPr>
          <a:xfrm>
            <a:off x="3572573" y="1875313"/>
            <a:ext cx="174000" cy="725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1bf9d34e5_0_61"/>
          <p:cNvSpPr txBox="1"/>
          <p:nvPr/>
        </p:nvSpPr>
        <p:spPr>
          <a:xfrm>
            <a:off x="543623" y="1519622"/>
            <a:ext cx="3102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mühitinə lazım olan kitabxanaları quraşdırır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1bf9d34e5_0_61"/>
          <p:cNvSpPr txBox="1"/>
          <p:nvPr/>
        </p:nvSpPr>
        <p:spPr>
          <a:xfrm>
            <a:off x="543622" y="2035427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Kitabxanaları Python skriptində istifadə etmək üçün import edirik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91bf9d34e5_0_61"/>
          <p:cNvSpPr/>
          <p:nvPr/>
        </p:nvSpPr>
        <p:spPr>
          <a:xfrm>
            <a:off x="3564198" y="1650373"/>
            <a:ext cx="174000" cy="2433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91bf9d34e5_0_61"/>
          <p:cNvSpPr/>
          <p:nvPr/>
        </p:nvSpPr>
        <p:spPr>
          <a:xfrm>
            <a:off x="3572573" y="2760438"/>
            <a:ext cx="174000" cy="21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1bf9d34e5_0_61"/>
          <p:cNvSpPr txBox="1"/>
          <p:nvPr/>
        </p:nvSpPr>
        <p:spPr>
          <a:xfrm>
            <a:off x="557109" y="2702091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social_users.csv</a:t>
            </a:r>
            <a:r>
              <a:rPr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faylını oxuyur və 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ataframe kimi </a:t>
            </a:r>
            <a:r>
              <a:rPr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df</a:t>
            </a:r>
            <a:r>
              <a:rPr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dəyişəninə saxlayır. </a:t>
            </a:r>
            <a:endParaRPr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91bf9d34e5_0_61"/>
          <p:cNvSpPr txBox="1"/>
          <p:nvPr/>
        </p:nvSpPr>
        <p:spPr>
          <a:xfrm>
            <a:off x="8484452" y="2988059"/>
            <a:ext cx="3102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df.select_dtypes(include=['int64', 'float64'])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yalnız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rəqəmsal sütunları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seçir (clustering üçün lazımdır, çünki mətni klasterləşdirmək olmur) </a:t>
            </a:r>
            <a:endParaRPr/>
          </a:p>
        </p:txBody>
      </p:sp>
      <p:sp>
        <p:nvSpPr>
          <p:cNvPr id="266" name="Google Shape;266;g391bf9d34e5_0_61"/>
          <p:cNvSpPr/>
          <p:nvPr/>
        </p:nvSpPr>
        <p:spPr>
          <a:xfrm flipH="1">
            <a:off x="8223406" y="3079394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91bf9d34e5_0_61"/>
          <p:cNvSpPr/>
          <p:nvPr/>
        </p:nvSpPr>
        <p:spPr>
          <a:xfrm>
            <a:off x="3600131" y="3612765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1bf9d34e5_0_61"/>
          <p:cNvSpPr txBox="1"/>
          <p:nvPr/>
        </p:nvSpPr>
        <p:spPr>
          <a:xfrm>
            <a:off x="671714" y="3565140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Yoxlayır ki, heç bir rəqəmsal sütun yoxdursa, kod dayansın və istifadəçiyə xəbər versin.</a:t>
            </a:r>
            <a:endParaRPr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91bf9d34e5_0_61"/>
          <p:cNvSpPr txBox="1"/>
          <p:nvPr/>
        </p:nvSpPr>
        <p:spPr>
          <a:xfrm>
            <a:off x="7205864" y="3980638"/>
            <a:ext cx="456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hər sütunu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ortalama, 1 standart deviasiya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ilə standartlaşdırır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1bf9d34e5_0_61"/>
          <p:cNvSpPr/>
          <p:nvPr/>
        </p:nvSpPr>
        <p:spPr>
          <a:xfrm flipH="1">
            <a:off x="6849264" y="3980638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1bf9d34e5_0_61"/>
          <p:cNvSpPr/>
          <p:nvPr/>
        </p:nvSpPr>
        <p:spPr>
          <a:xfrm>
            <a:off x="3324225" y="4394545"/>
            <a:ext cx="450000" cy="98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1bf9d34e5_0_61"/>
          <p:cNvSpPr txBox="1"/>
          <p:nvPr/>
        </p:nvSpPr>
        <p:spPr>
          <a:xfrm>
            <a:off x="2645365" y="4746410"/>
            <a:ext cx="310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Qrafik</a:t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91bf9d34e5_0_61"/>
          <p:cNvSpPr/>
          <p:nvPr/>
        </p:nvSpPr>
        <p:spPr>
          <a:xfrm>
            <a:off x="3572573" y="5465813"/>
            <a:ext cx="201600" cy="35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91bf9d34e5_0_61"/>
          <p:cNvSpPr txBox="1"/>
          <p:nvPr/>
        </p:nvSpPr>
        <p:spPr>
          <a:xfrm>
            <a:off x="572283" y="546581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İstifadəçiləri 3 klasterə bölür və dataframe-ə klaster sütunu əlavə ed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ir.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91bf9d34e5_0_61"/>
          <p:cNvSpPr/>
          <p:nvPr/>
        </p:nvSpPr>
        <p:spPr>
          <a:xfrm>
            <a:off x="3550437" y="5896700"/>
            <a:ext cx="201600" cy="35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91bf9d34e5_0_61"/>
          <p:cNvSpPr txBox="1"/>
          <p:nvPr/>
        </p:nvSpPr>
        <p:spPr>
          <a:xfrm>
            <a:off x="572283" y="5896700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Bütün dataseti klasterlə birlikdə göstərir və istifadəçi sayını göstərir.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262023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83" name="Google Shape;283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3076486" y="1778763"/>
            <a:ext cx="6843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Sonda aktiv, orta aktiv,passiv istifadəçilərin sayını çap edir: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977" y="3112995"/>
            <a:ext cx="3373908" cy="168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115" y="3259447"/>
            <a:ext cx="3195212" cy="14504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11"/>
          <p:cNvCxnSpPr/>
          <p:nvPr/>
        </p:nvCxnSpPr>
        <p:spPr>
          <a:xfrm>
            <a:off x="5299817" y="3819971"/>
            <a:ext cx="1410056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/>
          </a:p>
        </p:txBody>
      </p:sp>
      <p:sp>
        <p:nvSpPr>
          <p:cNvPr descr="Hierarchical Clustering in Machine Learning - GeeksforGeeks" id="294" name="Google Shape;294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096" y="1388922"/>
            <a:ext cx="11118931" cy="499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1bf9d34e5_0_139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91bf9d34e5_0_139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/>
          </a:p>
        </p:txBody>
      </p:sp>
      <p:sp>
        <p:nvSpPr>
          <p:cNvPr descr="Hierarchical Clustering in Machine Learning - GeeksforGeeks" id="302" name="Google Shape;302;g391bf9d34e5_0_13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91bf9d34e5_0_1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800" y="1784350"/>
            <a:ext cx="10335300" cy="46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91bf9d34e5_0_139"/>
          <p:cNvSpPr txBox="1"/>
          <p:nvPr/>
        </p:nvSpPr>
        <p:spPr>
          <a:xfrm>
            <a:off x="2888011" y="1285788"/>
            <a:ext cx="68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Məsafəni 2.5 götürdüyümüz halda istifadəçilər 3 klasterə bölünür: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g391bf9d34e5_0_139"/>
          <p:cNvCxnSpPr/>
          <p:nvPr/>
        </p:nvCxnSpPr>
        <p:spPr>
          <a:xfrm>
            <a:off x="1786275" y="5355904"/>
            <a:ext cx="9438900" cy="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>
            <p:ph type="title"/>
          </p:nvPr>
        </p:nvSpPr>
        <p:spPr>
          <a:xfrm>
            <a:off x="4642385" y="781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Mənbələr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312" name="Google Shape;312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IBM. (n.d.). </a:t>
            </a:r>
            <a:r>
              <a:rPr i="1" lang="en-US"/>
              <a:t>What is hierarchical clustering?</a:t>
            </a:r>
            <a:r>
              <a:rPr lang="en-US"/>
              <a:t> Retrieved December 10, 2025, from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https://www.ibm.com/think/topics/hierarchical-clustering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GeeksforGeeks. (n.d.). </a:t>
            </a:r>
            <a:r>
              <a:rPr i="1" lang="en-US"/>
              <a:t>Hierarchical clustering</a:t>
            </a:r>
            <a:r>
              <a:rPr lang="en-US"/>
              <a:t>. Retrieved December 10, 2025, from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https://www.geeksforgeeks.org/machine-learning/hierarchical-clustering/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1bf9d34e5_0_148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91bf9d34e5_0_148"/>
          <p:cNvSpPr txBox="1"/>
          <p:nvPr>
            <p:ph type="title"/>
          </p:nvPr>
        </p:nvSpPr>
        <p:spPr>
          <a:xfrm>
            <a:off x="3062022" y="633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Layihənin github linki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320" name="Google Shape;320;g391bf9d34e5_0_14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91bf9d34e5_0_14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2025-12-09T11:25:07Z</dcterms:created>
  <dc:creator>Muellimler otagi14</dc:creator>
</cp:coreProperties>
</file>